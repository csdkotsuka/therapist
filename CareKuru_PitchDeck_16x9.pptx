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【登壇メモ・語るポイント】
▶ 自己紹介は端的に力強く：「大塚和宏です。CareKuruを通じて理学療法士、エステ、整体、トレーナーすべてのプロを解放する話をしに来ました。」
▶ 「医療・美・健康の分断を壊し、誰もが本物の技術で正当に報われる未来を全員で創りましょう！」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【登壇メモ・語るポイント】
▶ 「国家資格があっても組織の中でスキルを活かしきれない医療職。確かな技術があるのに安売り競争と信用の壁に苦しむサロン・整体職。」
▶ 「どちらも本物なのに、顧客からは選ばれにくい。この理不尽な構造を放置していいはずがありません。」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【登壇メモ・語るポイント】
▶ 「医療の圧倒的な安心・安全と、サロンの癒やし・美・健康。この2つが分断されているから顧客は迷子になります。」
▶ 「手を組むのは必然です。タッグを組むことで、未来の安定と自由を同時に手に入れましょう。」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【登壇メモ・語るポイント】
▶ 「実利は極めて明快です。最高級のブランドステータス、顧客の相互紹介ループ、そして初期・月額0円の高還元。」
▶ 「リスクはありません。傍観者になるのではなく、今動く人が次の時代を創ります。」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【登壇メモ・語るポイント】
▶ 「この規模とスピードは、会長と400人の仲間が集まった今だからこそ実現できます。」
▶ 「施術者は腕一本で自立し、経営者は社員の健康と美を守る福利厚生として使う。全員に役割があります。」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【登壇メモ・語るポイント】
▶ 「最初の乗組員として、この船に乗ってください。業界の常識を、一緒にひっくり返しましょう！」
▶ 「QRコードから先行登録をお願いします。皆様と一緒に未来を創れることを楽しみにしています！」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41148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1234440" y="41148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CareKuru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058400" y="41148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1/6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896112"/>
            <a:ext cx="107286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6263640"/>
            <a:ext cx="107286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309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CareKuru ｜ 大塚 和宏 / yaShine ｜ プロフェッショナル連合軍構想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0" y="6309360"/>
            <a:ext cx="23161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SLIDE 1 OF 6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1554480"/>
            <a:ext cx="71323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0F172A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プロフェッショナルの
</a:t>
            </a:r>
            <a:pPr indent="0" marL="0">
              <a:buNone/>
            </a:pPr>
            <a:r>
              <a:rPr lang="en-US" sz="6200" b="1" dirty="0">
                <a:solidFill>
                  <a:srgbClr val="0F172A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解放。</a:t>
            </a:r>
            <a:endParaRPr lang="en-US" sz="5000" dirty="0"/>
          </a:p>
        </p:txBody>
      </p:sp>
      <p:sp>
        <p:nvSpPr>
          <p:cNvPr id="11" name="Text 9"/>
          <p:cNvSpPr/>
          <p:nvPr/>
        </p:nvSpPr>
        <p:spPr>
          <a:xfrm>
            <a:off x="914400" y="37490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4155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大塚 和宏 / yaShine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8412480" y="1645920"/>
            <a:ext cx="2560320" cy="2560320"/>
          </a:xfrm>
          <a:prstGeom prst="diamond">
            <a:avLst/>
          </a:prstGeom>
          <a:solidFill>
            <a:srgbClr val="E0F2FE"/>
          </a:solidFill>
          <a:ln w="31750">
            <a:solidFill>
              <a:srgbClr val="38BD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915400" y="2148840"/>
            <a:ext cx="1554480" cy="1554480"/>
          </a:xfrm>
          <a:prstGeom prst="diamond">
            <a:avLst/>
          </a:prstGeom>
          <a:solidFill>
            <a:srgbClr val="FCE7F3"/>
          </a:solidFill>
          <a:ln w="25400">
            <a:solidFill>
              <a:srgbClr val="F472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0" y="1645920"/>
            <a:ext cx="25603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D97706"/>
                </a:solidFill>
              </a:rPr>
              <a:t>✦</a:t>
            </a:r>
            <a:endParaRPr lang="en-US" sz="4800" dirty="0"/>
          </a:p>
        </p:txBody>
      </p:sp>
      <p:sp>
        <p:nvSpPr>
          <p:cNvPr id="15" name="Shape 13"/>
          <p:cNvSpPr/>
          <p:nvPr/>
        </p:nvSpPr>
        <p:spPr>
          <a:xfrm>
            <a:off x="914400" y="4572000"/>
            <a:ext cx="10362895" cy="1143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FDE6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572000"/>
            <a:ext cx="10362895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医療・美・健康の常識を覆す「プロフェッショナル連合軍」構想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41148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1234440" y="41148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CareKuru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058400" y="41148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2/6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896112"/>
            <a:ext cx="107286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6263640"/>
            <a:ext cx="107286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309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CareKuru ｜ 大塚 和宏 / yaShine ｜ プロフェッショナル連合軍構想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0" y="6309360"/>
            <a:ext cx="23161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SLIDE 2 OF 6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1097280"/>
            <a:ext cx="103628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本物の技術を持つプロが </a:t>
            </a:r>
            <a:pPr indent="0" marL="0">
              <a:buNone/>
            </a:pPr>
            <a:r>
              <a:rPr lang="en-US" sz="3600" b="1" dirty="0">
                <a:solidFill>
                  <a:srgbClr val="E11D48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報われないのか？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914400" y="1965960"/>
            <a:ext cx="4937760" cy="3154680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25400">
            <a:solidFill>
              <a:srgbClr val="FECDD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214884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11D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医療職の現実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1188720" y="2743200"/>
            <a:ext cx="4389120" cy="0"/>
          </a:xfrm>
          <a:prstGeom prst="line">
            <a:avLst/>
          </a:prstGeom>
          <a:noFill/>
          <a:ln w="12700">
            <a:solidFill>
              <a:srgbClr val="FFE4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80160" y="2971800"/>
            <a:ext cx="42062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✔  国家資格で超・安定
</a:t>
            </a:r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✔  給料も安定
</a:t>
            </a:r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✔  でもスキルを活かし切れない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339535" y="1965960"/>
            <a:ext cx="4937760" cy="3154680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25400">
            <a:solidFill>
              <a:srgbClr val="BAE6F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13855" y="214884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284C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サロン・整体の現実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6613855" y="2743200"/>
            <a:ext cx="4389120" cy="0"/>
          </a:xfrm>
          <a:prstGeom prst="line">
            <a:avLst/>
          </a:prstGeom>
          <a:noFill/>
          <a:ln w="12700">
            <a:solidFill>
              <a:srgbClr val="E0F2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05295" y="2971800"/>
            <a:ext cx="42062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✔  技術があっても集客が難しい
</a:t>
            </a:r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✔  無資格でも働ける
</a:t>
            </a:r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✔  「誰を信じればいいか分からない」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3352190" y="5394960"/>
            <a:ext cx="5486400" cy="621792"/>
          </a:xfrm>
          <a:prstGeom prst="roundRect">
            <a:avLst>
              <a:gd name="adj" fmla="val 50000"/>
            </a:avLst>
          </a:prstGeom>
          <a:solidFill>
            <a:srgbClr val="FFF1F2"/>
          </a:solidFill>
          <a:ln w="19050">
            <a:solidFill>
              <a:srgbClr val="FECDD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52190" y="5394960"/>
            <a:ext cx="5486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11D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技術があっても、選ばれにくい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41148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1234440" y="41148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CareKuru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058400" y="41148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3/6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896112"/>
            <a:ext cx="107286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6263640"/>
            <a:ext cx="107286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309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CareKuru ｜ 大塚 和宏 / yaShine ｜ プロフェッショナル連合軍構想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0" y="6309360"/>
            <a:ext cx="23161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SLIDE 3 OF 6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1097280"/>
            <a:ext cx="103628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284C7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「治す」</a:t>
            </a:r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医療 × </a:t>
            </a:r>
            <a:pPr indent="0" marL="0">
              <a:buNone/>
            </a:pPr>
            <a:r>
              <a:rPr lang="en-US" sz="3300" b="1" dirty="0">
                <a:solidFill>
                  <a:srgbClr val="E11D48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「癒やし・美」</a:t>
            </a:r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サロンが手を組む必然性</a:t>
            </a:r>
            <a:endParaRPr lang="en-US" sz="3300" dirty="0"/>
          </a:p>
        </p:txBody>
      </p:sp>
      <p:sp>
        <p:nvSpPr>
          <p:cNvPr id="11" name="Shape 9"/>
          <p:cNvSpPr/>
          <p:nvPr/>
        </p:nvSpPr>
        <p:spPr>
          <a:xfrm>
            <a:off x="914400" y="2057400"/>
            <a:ext cx="3063240" cy="3108960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25400">
            <a:solidFill>
              <a:srgbClr val="FECDD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88820" y="2377440"/>
            <a:ext cx="914400" cy="914400"/>
          </a:xfrm>
          <a:prstGeom prst="ellipse">
            <a:avLst/>
          </a:prstGeom>
          <a:solidFill>
            <a:srgbClr val="FFE4E6"/>
          </a:solidFill>
          <a:ln w="12700">
            <a:solidFill>
              <a:srgbClr val="FDA4A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88820" y="23774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🏥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005840" y="352044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11D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医療職の力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05840" y="411480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7556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安心・安全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023360" y="3154680"/>
            <a:ext cx="502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4A3B8"/>
                </a:solidFill>
              </a:rPr>
              <a:t>✕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4563770" y="2057400"/>
            <a:ext cx="3063240" cy="3108960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25400">
            <a:solidFill>
              <a:srgbClr val="BAE6F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38190" y="2377440"/>
            <a:ext cx="914400" cy="914400"/>
          </a:xfrm>
          <a:prstGeom prst="ellipse">
            <a:avLst/>
          </a:prstGeom>
          <a:solidFill>
            <a:srgbClr val="E0F2FE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38190" y="23774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👥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655210" y="352044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4C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サロンの魅力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655210" y="411480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7556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癒やし・美・健康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672730" y="3154680"/>
            <a:ext cx="502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4A3B8"/>
                </a:solidFill>
              </a:rPr>
              <a:t>✕</a:t>
            </a:r>
            <a:endParaRPr lang="en-US" sz="2800" dirty="0"/>
          </a:p>
        </p:txBody>
      </p:sp>
      <p:sp>
        <p:nvSpPr>
          <p:cNvPr id="23" name="Shape 21"/>
          <p:cNvSpPr/>
          <p:nvPr/>
        </p:nvSpPr>
        <p:spPr>
          <a:xfrm>
            <a:off x="8214055" y="2057400"/>
            <a:ext cx="3063240" cy="3108960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38100">
            <a:solidFill>
              <a:srgbClr val="34D39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288475" y="2377440"/>
            <a:ext cx="914400" cy="91440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288475" y="23774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🤝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8305495" y="352044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5966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プロの連合軍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8305495" y="411480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5966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最強のチーム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1980590" y="5394960"/>
            <a:ext cx="8229600" cy="658368"/>
          </a:xfrm>
          <a:prstGeom prst="roundRect">
            <a:avLst>
              <a:gd name="adj" fmla="val 27778"/>
            </a:avLst>
          </a:prstGeom>
          <a:solidFill>
            <a:srgbClr val="FFF1F2"/>
          </a:solidFill>
          <a:ln w="19050">
            <a:solidFill>
              <a:srgbClr val="FECDD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80590" y="539496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11D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今、動くことで、未来の安定と自由が手に入る！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41148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1234440" y="41148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CareKuru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058400" y="41148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4/6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896112"/>
            <a:ext cx="107286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6263640"/>
            <a:ext cx="107286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309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CareKuru ｜ 大塚 和宏 / yaShine ｜ プロフェッショナル連合軍構想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0" y="6309360"/>
            <a:ext cx="23161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SLIDE 4 OF 6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1097280"/>
            <a:ext cx="103628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今こそ、船に乗るべきなのか？ </a:t>
            </a:r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【 3大実利 】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914400" y="2057400"/>
            <a:ext cx="3200400" cy="310896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25400">
            <a:solidFill>
              <a:srgbClr val="FECDD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40280" y="2377440"/>
            <a:ext cx="548640" cy="548640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13" name="Text 11"/>
          <p:cNvSpPr/>
          <p:nvPr/>
        </p:nvSpPr>
        <p:spPr>
          <a:xfrm>
            <a:off x="2240280" y="2377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301752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📈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914400" y="388620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11D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最高級の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E11D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下駄を履く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495190" y="2057400"/>
            <a:ext cx="3200400" cy="310896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25400">
            <a:solidFill>
              <a:srgbClr val="BAE6F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21070" y="2377440"/>
            <a:ext cx="548640" cy="548640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18" name="Text 16"/>
          <p:cNvSpPr/>
          <p:nvPr/>
        </p:nvSpPr>
        <p:spPr>
          <a:xfrm>
            <a:off x="5821070" y="2377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495190" y="301752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👥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4495190" y="388620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4C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顧客の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0284C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相互紹介ループ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8076895" y="2057400"/>
            <a:ext cx="3200400" cy="310896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25400">
            <a:solidFill>
              <a:srgbClr val="A7F3D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402775" y="2377440"/>
            <a:ext cx="548640" cy="54864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3" name="Text 21"/>
          <p:cNvSpPr/>
          <p:nvPr/>
        </p:nvSpPr>
        <p:spPr>
          <a:xfrm>
            <a:off x="9402775" y="2377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076895" y="301752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59669"/>
                </a:solidFill>
              </a:rPr>
              <a:t>¥</a:t>
            </a:r>
            <a:endParaRPr lang="en-US" sz="4400" dirty="0"/>
          </a:p>
        </p:txBody>
      </p:sp>
      <p:sp>
        <p:nvSpPr>
          <p:cNvPr id="25" name="Text 23"/>
          <p:cNvSpPr/>
          <p:nvPr/>
        </p:nvSpPr>
        <p:spPr>
          <a:xfrm>
            <a:off x="8076895" y="388620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5966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初期・月額0円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05966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高還元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3352190" y="5394960"/>
            <a:ext cx="5486400" cy="658368"/>
          </a:xfrm>
          <a:prstGeom prst="roundRect">
            <a:avLst>
              <a:gd name="adj" fmla="val 50000"/>
            </a:avLst>
          </a:prstGeom>
          <a:solidFill>
            <a:srgbClr val="FFFBEB"/>
          </a:solidFill>
          <a:ln w="25400">
            <a:solidFill>
              <a:srgbClr val="FDE6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52190" y="5394960"/>
            <a:ext cx="5486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D97706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Next Step  ➔  </a:t>
            </a:r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動く人が未来を創る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41148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1234440" y="41148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CareKuru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058400" y="41148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5/6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896112"/>
            <a:ext cx="107286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6263640"/>
            <a:ext cx="107286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309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CareKuru ｜ 大塚 和宏 / yaShine ｜ プロフェッショナル連合軍構想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0" y="6309360"/>
            <a:ext cx="23161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SLIDE 5 OF 6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1097280"/>
            <a:ext cx="103628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会長と400人の仲間だから 起こせる業界革命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914400" y="2011680"/>
            <a:ext cx="4937760" cy="310896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25400">
            <a:solidFill>
              <a:srgbClr val="FECDD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80160" y="22402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11D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施術ができるプロ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280160" y="2971800"/>
            <a:ext cx="42062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健康的に長生き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美しくあり続ける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339535" y="2011680"/>
            <a:ext cx="4937760" cy="310896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25400">
            <a:solidFill>
              <a:srgbClr val="BAE6F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05295" y="22402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4C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経営者・リーダーへ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705295" y="2971800"/>
            <a:ext cx="42062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ご自身・ご家族、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そして大切な社員の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健康と美を守る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1980590" y="5349240"/>
            <a:ext cx="8229600" cy="658368"/>
          </a:xfrm>
          <a:prstGeom prst="roundRect">
            <a:avLst>
              <a:gd name="adj" fmla="val 50000"/>
            </a:avLst>
          </a:prstGeom>
          <a:solidFill>
            <a:srgbClr val="FFF1F2"/>
          </a:solidFill>
          <a:ln w="19050">
            <a:solidFill>
              <a:srgbClr val="FECDD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80590" y="53492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11D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⛵ エリア管理や運営側に興味がある方は まずは「創業パートナー相談デスク」へ！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41148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1234440" y="41148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CareKuru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058400" y="41148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6/6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896112"/>
            <a:ext cx="107286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6263640"/>
            <a:ext cx="107286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309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CareKuru ｜ 大塚 和宏 / yaShine ｜ プロフェッショナル連合軍構想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0" y="6309360"/>
            <a:ext cx="23161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SLIDE 6 OF 6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1097280"/>
            <a:ext cx="103628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最初の乗組員として、 業界の常識を</a:t>
            </a:r>
            <a:pPr indent="0" marL="0">
              <a:buNone/>
            </a:pPr>
            <a:r>
              <a:rPr lang="en-US" sz="3400" b="1" dirty="0">
                <a:solidFill>
                  <a:srgbClr val="E11D48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ひっくり返そう！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914400" y="1965960"/>
            <a:ext cx="4937760" cy="105156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25400">
            <a:solidFill>
              <a:srgbClr val="FECDD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965960"/>
            <a:ext cx="4937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🚶 健康的に長生き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339535" y="1965960"/>
            <a:ext cx="4937760" cy="105156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25400">
            <a:solidFill>
              <a:srgbClr val="BAE6F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39535" y="1965960"/>
            <a:ext cx="4937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🤝 仲間と共に成長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914400" y="3246120"/>
            <a:ext cx="10362895" cy="2697480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25400">
            <a:solidFill>
              <a:srgbClr val="BAE6F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0" y="3520440"/>
            <a:ext cx="59436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C4A6E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一緒に 未来を創りましょう！
</a:t>
            </a:r>
            <a:pPr indent="0" marL="0">
              <a:buNone/>
            </a:pPr>
            <a:r>
              <a:rPr lang="en-US" sz="1600" b="1" dirty="0">
                <a:solidFill>
                  <a:srgbClr val="0284C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CareKuru プロフェッショナル解放プロジェクト</a:t>
            </a:r>
            <a:endParaRPr lang="en-US" sz="3200" dirty="0"/>
          </a:p>
          <a:p>
            <a:pPr indent="0" marL="0">
              <a:buNone/>
            </a:pPr>
            <a:endParaRPr lang="en-US" sz="32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284C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⛵ 帆を上げ、新しい航海へ</a:t>
            </a:r>
            <a:endParaRPr lang="en-US" sz="3200" dirty="0"/>
          </a:p>
        </p:txBody>
      </p:sp>
      <p:sp>
        <p:nvSpPr>
          <p:cNvPr id="17" name="Shape 15"/>
          <p:cNvSpPr/>
          <p:nvPr/>
        </p:nvSpPr>
        <p:spPr>
          <a:xfrm>
            <a:off x="7772400" y="3474720"/>
            <a:ext cx="3108960" cy="2240280"/>
          </a:xfrm>
          <a:prstGeom prst="roundRect">
            <a:avLst>
              <a:gd name="adj" fmla="val 8163"/>
            </a:avLst>
          </a:prstGeom>
          <a:solidFill>
            <a:srgbClr val="F0F9FF"/>
          </a:solidFill>
          <a:ln w="19050">
            <a:solidFill>
              <a:srgbClr val="BAE6F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36118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創業パートナー先行登録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772400" y="39776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★各地域・ジャンル限定枠</a:t>
            </a:r>
            <a:endParaRPr lang="en-US" sz="1200" dirty="0"/>
          </a:p>
        </p:txBody>
      </p:sp>
      <p:pic>
        <p:nvPicPr>
          <p:cNvPr id="20" name="Image 0" descr="https://api.qrserver.com/v1/create-qr-code/?size=240x240&amp;data=https%3A%2F%2Ftherapist.kotsuka-folio.workers.dev%2Fguide%2Fadmin%23partner-registr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41080" y="43434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CareKuru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CareKuru ピッチデック</dc:title>
  <dc:subject>CareKuru 5分ピッチデック（プロフェッショナルの解放）</dc:subject>
  <dc:creator>大塚 和宏 / yaShine</dc:creator>
  <cp:lastModifiedBy>大塚 和宏 / yaShine</cp:lastModifiedBy>
  <cp:revision>1</cp:revision>
  <dcterms:created xsi:type="dcterms:W3CDTF">2026-10-28T07:53:15Z</dcterms:created>
  <dcterms:modified xsi:type="dcterms:W3CDTF">2026-10-28T07:53:15Z</dcterms:modified>
</cp:coreProperties>
</file>